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a8ff656129481e" /><Relationship Type="http://schemas.openxmlformats.org/officeDocument/2006/relationships/extended-properties" Target="/docProps/app.xml" Id="R687b17837a354f4f" /><Relationship Type="http://schemas.openxmlformats.org/officeDocument/2006/relationships/officeDocument" Target="/ppt/presentation.xml" Id="Rb09e862335074e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ffcc6e71e94ee3"/>
  </p:sldMasterIdLst>
  <p:notesMasterIdLst>
    <p:notesMasterId xmlns:r="http://schemas.openxmlformats.org/officeDocument/2006/relationships" r:id="Re28a3b0cc88945b9"/>
  </p:notesMasterIdLst>
  <p:sldIdLst>
    <p:sldId xmlns:r="http://schemas.openxmlformats.org/officeDocument/2006/relationships" id="256" r:id="Rcc3c89f16bea45d1"/>
    <p:sldId xmlns:r="http://schemas.openxmlformats.org/officeDocument/2006/relationships" id="257" r:id="R5a86a29f38234eae"/>
    <p:sldId xmlns:r="http://schemas.openxmlformats.org/officeDocument/2006/relationships" id="258" r:id="R49cb4c98ea83462c"/>
    <p:sldId xmlns:r="http://schemas.openxmlformats.org/officeDocument/2006/relationships" id="259" r:id="Rb68888bb9f094d55"/>
    <p:sldId xmlns:r="http://schemas.openxmlformats.org/officeDocument/2006/relationships" id="260" r:id="R4a1349b87fe04ee6"/>
    <p:sldId xmlns:r="http://schemas.openxmlformats.org/officeDocument/2006/relationships" id="261" r:id="R5e5a38fd367f46d9"/>
    <p:sldId xmlns:r="http://schemas.openxmlformats.org/officeDocument/2006/relationships" id="262" r:id="R9292aeeb2a264fae"/>
    <p:sldId xmlns:r="http://schemas.openxmlformats.org/officeDocument/2006/relationships" id="263" r:id="R98af211230a44b49"/>
    <p:sldId xmlns:r="http://schemas.openxmlformats.org/officeDocument/2006/relationships" id="264" r:id="R554c6e8e1b7f43eb"/>
    <p:sldId xmlns:r="http://schemas.openxmlformats.org/officeDocument/2006/relationships" id="265" r:id="R604bf6155694411d"/>
    <p:sldId xmlns:r="http://schemas.openxmlformats.org/officeDocument/2006/relationships" id="266" r:id="R45131390fdff4eab"/>
    <p:sldId xmlns:r="http://schemas.openxmlformats.org/officeDocument/2006/relationships" id="267" r:id="R7216a31f687e43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7787d42374da2" /><Relationship Type="http://schemas.openxmlformats.org/officeDocument/2006/relationships/slideMaster" Target="/ppt/slideMasters/slideMaster1.xml" Id="R67ffcc6e71e94ee3" /><Relationship Type="http://schemas.openxmlformats.org/officeDocument/2006/relationships/notesMaster" Target="/ppt/notesMasters/notesMaster1.xml" Id="Re28a3b0cc88945b9" /><Relationship Type="http://schemas.openxmlformats.org/officeDocument/2006/relationships/presProps" Target="/ppt/presProps.xml" Id="Rf57746b8e946405b" /><Relationship Type="http://schemas.openxmlformats.org/officeDocument/2006/relationships/tableStyles" Target="/ppt/tableStyles.xml" Id="R3372af32c5c347b3" /><Relationship Type="http://schemas.openxmlformats.org/officeDocument/2006/relationships/slide" Target="/ppt/slides/slide1.xml" Id="Rcc3c89f16bea45d1" /><Relationship Type="http://schemas.openxmlformats.org/officeDocument/2006/relationships/slide" Target="/ppt/slides/slide2.xml" Id="R5a86a29f38234eae" /><Relationship Type="http://schemas.openxmlformats.org/officeDocument/2006/relationships/slide" Target="/ppt/slides/slide3.xml" Id="R49cb4c98ea83462c" /><Relationship Type="http://schemas.openxmlformats.org/officeDocument/2006/relationships/slide" Target="/ppt/slides/slide4.xml" Id="Rb68888bb9f094d55" /><Relationship Type="http://schemas.openxmlformats.org/officeDocument/2006/relationships/slide" Target="/ppt/slides/slide5.xml" Id="R4a1349b87fe04ee6" /><Relationship Type="http://schemas.openxmlformats.org/officeDocument/2006/relationships/slide" Target="/ppt/slides/slide6.xml" Id="R5e5a38fd367f46d9" /><Relationship Type="http://schemas.openxmlformats.org/officeDocument/2006/relationships/slide" Target="/ppt/slides/slide7.xml" Id="R9292aeeb2a264fae" /><Relationship Type="http://schemas.openxmlformats.org/officeDocument/2006/relationships/slide" Target="/ppt/slides/slide8.xml" Id="R98af211230a44b49" /><Relationship Type="http://schemas.openxmlformats.org/officeDocument/2006/relationships/slide" Target="/ppt/slides/slide9.xml" Id="R554c6e8e1b7f43eb" /><Relationship Type="http://schemas.openxmlformats.org/officeDocument/2006/relationships/slide" Target="/ppt/slides/slide10.xml" Id="R604bf6155694411d" /><Relationship Type="http://schemas.openxmlformats.org/officeDocument/2006/relationships/slide" Target="/ppt/slides/slide11.xml" Id="R45131390fdff4eab" /><Relationship Type="http://schemas.openxmlformats.org/officeDocument/2006/relationships/slide" Target="/ppt/slides/slide12.xml" Id="R7216a31f687e43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caef3ec31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109dc17a644ac" /><Relationship Type="http://schemas.openxmlformats.org/officeDocument/2006/relationships/notesMaster" Target="/ppt/notesMasters/notesMaster1.xml" Id="R2bc37691489b4a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d714eb39cd43a6" /><Relationship Type="http://schemas.openxmlformats.org/officeDocument/2006/relationships/notesMaster" Target="/ppt/notesMasters/notesMaster1.xml" Id="Rd6614caa3b6045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a71cfd580c4d4b" /><Relationship Type="http://schemas.openxmlformats.org/officeDocument/2006/relationships/notesMaster" Target="/ppt/notesMasters/notesMaster1.xml" Id="R30e72eb6e84f45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d1db88445a4cf0" /><Relationship Type="http://schemas.openxmlformats.org/officeDocument/2006/relationships/notesMaster" Target="/ppt/notesMasters/notesMaster1.xml" Id="Rd9024cad010043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55a1705ad84826" /><Relationship Type="http://schemas.openxmlformats.org/officeDocument/2006/relationships/notesMaster" Target="/ppt/notesMasters/notesMaster1.xml" Id="R8a8c70edff3647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11317970547fd" /><Relationship Type="http://schemas.openxmlformats.org/officeDocument/2006/relationships/notesMaster" Target="/ppt/notesMasters/notesMaster1.xml" Id="Rcdef77622796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f9f279691448fd" /><Relationship Type="http://schemas.openxmlformats.org/officeDocument/2006/relationships/notesMaster" Target="/ppt/notesMasters/notesMaster1.xml" Id="Rb502789d58dc4d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b77338f1074349" /><Relationship Type="http://schemas.openxmlformats.org/officeDocument/2006/relationships/notesMaster" Target="/ppt/notesMasters/notesMaster1.xml" Id="Ra26d92c9a9b242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e877d7ccdf40e0" /><Relationship Type="http://schemas.openxmlformats.org/officeDocument/2006/relationships/notesMaster" Target="/ppt/notesMasters/notesMaster1.xml" Id="R2e4010e49e5c45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5d10c29d5446ff" /><Relationship Type="http://schemas.openxmlformats.org/officeDocument/2006/relationships/notesMaster" Target="/ppt/notesMasters/notesMaster1.xml" Id="Ra26aef17b22749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a268aa8a5014b20" /><Relationship Type="http://schemas.openxmlformats.org/officeDocument/2006/relationships/notesMaster" Target="/ppt/notesMasters/notesMaster1.xml" Id="R1a159975c6534b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226ac3387446f2" /><Relationship Type="http://schemas.openxmlformats.org/officeDocument/2006/relationships/notesMaster" Target="/ppt/notesMasters/notesMaster1.xml" Id="R706c14bc8c1b4d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讲解提示：先说明这是现有个人知识库的衍生方案，原系统保持不变。成长推荐属于新增设计。</a:t>
            </a:r>
          </a:p>
          <a:p xmlns:a="http://schemas.openxmlformats.org/drawingml/2006/main">
            <a:r>
              <a:t>证据来源：个人知识库/README.md；用户确认的产品定位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讲解提示：把问题落到现有使用习惯，不使用虚构的市场数据。</a:t>
            </a:r>
          </a:p>
          <a:p xmlns:a="http://schemas.openxmlformats.org/drawingml/2006/main">
            <a:r>
              <a:t>证据来源：个人知识库/sample_vault/首页.md、项目/项目复盘.md、复盘/每周复盘模板.md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讲解提示：逐层说明功能状态，避免把成长推荐说成已经实现。</a:t>
            </a:r>
          </a:p>
          <a:p xmlns:a="http://schemas.openxmlformats.org/drawingml/2006/main">
            <a:r>
              <a:t>证据来源：个人知识库/README.md；docs/superpowers/specs/2026-09-13-obsidian-rag-design.md；本方案新增设计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讲解提示：强调只读闭环。查询规划器只生成受限计划，执行层仍做安全校验。</a:t>
            </a:r>
          </a:p>
          <a:p xmlns:a="http://schemas.openxmlformats.org/drawingml/2006/main">
            <a:r>
              <a:t>证据来源：个人知识库/README.md；training/query_planner/README.md；sample_vault/复盘/每周复盘模板.md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讲解提示：这是已有问答基础上的总结设计。示例结论直接来自脱敏示例笔记。</a:t>
            </a:r>
          </a:p>
          <a:p xmlns:a="http://schemas.openxmlformats.org/drawingml/2006/main">
            <a:r>
              <a:t>证据来源：个人知识库/sample_vault/技术/Embedding选择.md；技术/RAG检索流程.md；README.md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讲解提示：时间线是脱敏演示结构，不代表真实个人历史。重点讲重复证据门槛。</a:t>
            </a:r>
          </a:p>
          <a:p xmlns:a="http://schemas.openxmlformats.org/drawingml/2006/main">
            <a:r>
              <a:t>证据来源：个人知识库/sample_vault/待办/知识库下一步.md；技术/Embedding选择.md；项目/项目复盘.md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讲解提示：按目标、证据、差距、动作和复查解释推荐，不使用无法核验的综合分数。</a:t>
            </a:r>
          </a:p>
          <a:p xmlns:a="http://schemas.openxmlformats.org/drawingml/2006/main">
            <a:r>
              <a:t>证据来源：本方案的脱敏示例输出；现有个人知识库项目与云端训练留档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讲解提示：成长分析层只读取 Retriever 证据，不直接访问 Vault，也不获得写入工具。</a:t>
            </a:r>
          </a:p>
          <a:p xmlns:a="http://schemas.openxmlformats.org/drawingml/2006/main">
            <a:r>
              <a:t>证据来源：个人知识库/README.md；docs/superpowers/specs/2026-09-13-obsidian-rag-design.md；app/agent.py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讲解提示：区分工程层面的证据门控与人生规划层面的建议边界。</a:t>
            </a:r>
          </a:p>
          <a:p xmlns:a="http://schemas.openxmlformats.org/drawingml/2006/main">
            <a:r>
              <a:t>证据来源：个人知识库/README.md；sample_vault/技术/模型幻觉约束.md；app/agent.py；app/vault.py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讲解提示：部署选择取决于隐私和算力。这里只给出方案边界，不宣称已经完成公网或多用户部署。</a:t>
            </a:r>
          </a:p>
          <a:p xmlns:a="http://schemas.openxmlformats.org/drawingml/2006/main">
            <a:r>
              <a:t>证据来源：个人知识库/README.md；docs/superpowers/specs/2026-09-13-obsidian-rag-design.md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讲解提示：第一版只增加主题总结和单目标成长复盘，先验证质量和证据闭环。</a:t>
            </a:r>
          </a:p>
          <a:p xmlns:a="http://schemas.openxmlformats.org/drawingml/2006/main">
            <a:r>
              <a:t>证据来源：个人知识库现有完成标准；本方案新增阶段验收条件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讲解提示：收尾时再次区分已实现能力和待验证设计。查询规划训练尚无同端点对照，不引用提升数字。</a:t>
            </a:r>
          </a:p>
          <a:p xmlns:a="http://schemas.openxmlformats.org/drawingml/2006/main">
            <a:r>
              <a:t>证据来源：个人知识库/README.md；artifacts/training/2026-09-14/query-planner/README.md；本产品集证据映射表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d424079a584e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1444c51884cde" /><Relationship Type="http://schemas.openxmlformats.org/officeDocument/2006/relationships/slideLayout" Target="/ppt/slideLayouts/slideLayout1.xml" Id="R346110e799cd40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6110e799cd40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b64de0f464831" /><Relationship Type="http://schemas.openxmlformats.org/officeDocument/2006/relationships/notesSlide" Target="/ppt/notesSlides/notesSlide1.xml" Id="Reed783031af947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dd6c9d6a5410b" /><Relationship Type="http://schemas.openxmlformats.org/officeDocument/2006/relationships/notesSlide" Target="/ppt/notesSlides/notesSlide2.xml" Id="Rc92ff3cb56b44b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2ce4118814eea" /><Relationship Type="http://schemas.openxmlformats.org/officeDocument/2006/relationships/notesSlide" Target="/ppt/notesSlides/notesSlide3.xml" Id="R83a7ad0d0ce2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acbb2135348f5" /><Relationship Type="http://schemas.openxmlformats.org/officeDocument/2006/relationships/notesSlide" Target="/ppt/notesSlides/notesSlide4.xml" Id="R27d2c901aef54e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7992400024e0a" /><Relationship Type="http://schemas.openxmlformats.org/officeDocument/2006/relationships/notesSlide" Target="/ppt/notesSlides/notesSlide5.xml" Id="Re46a750fa6784a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a75fbf4cf47fb" /><Relationship Type="http://schemas.openxmlformats.org/officeDocument/2006/relationships/notesSlide" Target="/ppt/notesSlides/notesSlide6.xml" Id="Re6ebed7764a94a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f2d55e7e34179" /><Relationship Type="http://schemas.openxmlformats.org/officeDocument/2006/relationships/notesSlide" Target="/ppt/notesSlides/notesSlide7.xml" Id="R34d678c272da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baf1eb7dd4df6" /><Relationship Type="http://schemas.openxmlformats.org/officeDocument/2006/relationships/notesSlide" Target="/ppt/notesSlides/notesSlide8.xml" Id="Racfe18dbe6494e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01f6804294b8b" /><Relationship Type="http://schemas.openxmlformats.org/officeDocument/2006/relationships/notesSlide" Target="/ppt/notesSlides/notesSlide9.xml" Id="Ra234e5fdc8e443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2d0a1c56b4809" /><Relationship Type="http://schemas.openxmlformats.org/officeDocument/2006/relationships/notesSlide" Target="/ppt/notesSlides/notesSlide10.xml" Id="R7b17614da59140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d157d9af946d5" /><Relationship Type="http://schemas.openxmlformats.org/officeDocument/2006/relationships/notesSlide" Target="/ppt/notesSlides/notesSlide11.xml" Id="Rf7e855d6215d43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95230e0e54957" /><Relationship Type="http://schemas.openxmlformats.org/officeDocument/2006/relationships/notesSlide" Target="/ppt/notesSlides/notesSlide12.xml" Id="R5720335144ac4e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BA8F1-8F32-49D5-994E-8785106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EC374-8DF1-490A-A97A-8C18604C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028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个人知识库问答和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成长方向推荐平台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0F2C3-232D-4364-9633-5FD28B41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rPr>
              <a:t>解决方案产品集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96572-0569-445B-9EE8-DA29F213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基于学习笔记、困难记录、阶段复盘和长期目标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215D7-60E3-4C65-B397-3C87040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潘力硕    2026年9月</a:t>
            </a:r>
          </a:p>
        </p:txBody>
      </p:sp>
    </p:spTree>
    <p:extLst>
      <p:ext uri="{BB962C8B-B14F-4D97-AF65-F5344CB8AC3E}">
        <p14:creationId xmlns:p14="http://schemas.microsoft.com/office/powerpoint/2010/main" val="33079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284FB-164C-4528-B115-865F1507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09204-2EE6-4B5B-B853-A506BDD7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86A1D-6999-4A31-AAFD-01F3117E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811B4-D07F-4022-9FC8-380BE84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笔记保存了经历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2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规划仍依赖临时回忆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C765A-59FC-4902-9B67-523B7E5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721C-17CD-4CE0-8B22-9336E1BF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目标用户持续使用 Obsidian 记录学习、项目和复盘。知识积累与行动规划之间缺少稳定连接。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7ED88-9A65-4775-A4C2-B54EDF81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00200"/>
            <a:ext cx="5905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38100" bIns="1905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700"/>
              </a:spcAft>
              <a:buNone/>
              <a:def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笔记增加后，稳定认识和未解决事项难以快速回顾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700"/>
              </a:spcAft>
              <a:buNone/>
              <a:def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困难分散在学习记录、项目日志和复盘中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700"/>
              </a:spcAft>
              <a:buNone/>
              <a:def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长期目标缺少与当前能力证据的对应关系</a:t>
            </a:r>
          </a:p>
          <a:p xmlns:a="http://schemas.openxmlformats.org/drawingml/2006/main">
            <a:pPr marL="254000" indent="-127000">
              <a:lnSpc>
                <a:spcPct val="108000"/>
              </a:lnSpc>
              <a:spcAft>
                <a:spcPts val="1700"/>
              </a:spcAft>
              <a:buNone/>
              <a:def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通用模型不了解个人经历时容易给出空泛建议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580DB-D655-4AE4-A757-7A4DE0D5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5315D-BAF8-4507-A52C-19EE1493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741374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F094C6-4A1C-44B4-8583-61E02F45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产品能力状态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875C3-3920-494E-974B-7D1D9640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127FCA-09BE-41C4-A3CD-40C567EC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7B6BA-9B8A-40BE-817C-AE76919D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DB3D2-A3BB-40F5-AD1D-09C96FA9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C2B73-13F9-4086-B9FB-DED192C5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819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Markdown 与 Frontmatter 解析    增量向量索引    只读 Agent    结构化来源    Obsidian 定位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E1436-6F3A-49B9-AD5A-F69053E3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10820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8A3C74-ACE4-4413-94F9-6F4923E9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衍生设计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1EE1F3-BEA0-4D98-9AD6-FCF35A70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95625"/>
            <a:ext cx="8191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主题总结与跨笔记归纳    困难模式分析    长期目标建模    目标差距与行动建议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ED6B2-5ECD-47F5-936C-4F6929F9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D0C26-3F75-4E54-93FC-1899726A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后续演进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A906C9-A67B-4954-BD38-F362DF00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86300"/>
            <a:ext cx="8191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建议反馈    周期复盘    建议历史    成长轨迹    固定测试集评测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A363C-91CF-4703-8245-C27596F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37DC0-C350-4DFB-BF0F-5E129D4A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75204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327840-16D3-4A54-87CC-9F8E42C9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记录到复盘的服务闭环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AA0F7-0981-4B59-8EDF-A8EB1034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7B4CD-8DDD-45BD-A354-AC72ED8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CF324-4661-4222-8886-850140C0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28850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38F70-7565-44F9-B8E5-80319970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0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043FE-3C71-4EC3-9574-62C9F7C6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ADA05-43FF-4815-93CD-4927478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学习、困难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目标、复盘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66892-D6A3-4A71-A688-0FC5BC3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28850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05C66-1359-4A49-90E2-9A0E04DA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00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64589D-1B84-4AB4-A945-14C22DC6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908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CA411-F80C-4F03-A586-4CF3B218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337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识别变化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复用向量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326E1-DE53-4F83-88CE-82478329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2EF116-9BA4-4F03-8A0B-CB8D752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23F4D-C2AD-41D6-899B-ECDE6277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908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680F8-4A74-4E8F-90E1-EF5B2D3F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限制意图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校验参数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FD494-EC0D-43A2-9171-B426ADA7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28850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4B987-3BBA-4E4F-82A8-22E58F0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00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46A61-4BEF-4472-9C6E-67BD516B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908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3C15D-9E6C-42E5-AA07-65DA0727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37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汇集片段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标签与时间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20A6C-2B00-4CB9-8448-D4B64F39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28850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8D88"/>
          </a:solidFill>
          <a:ln xmlns:a="http://schemas.openxmlformats.org/drawingml/2006/main" w="14288">
            <a:solidFill>
              <a:srgbClr val="178D8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6E4C8-95A7-4AC6-AC73-3E691B65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1199C-5639-46B8-A02D-44978DBF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908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98679-FA64-4C8C-ABF9-6DACA66F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回答、总结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困难与差距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F1698-A6FA-4989-9C7A-40B806B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28850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6D2C5-0EA7-444F-A831-0CAAAFB9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00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7E393-A668-44D5-9CEB-5DF4D2DC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790825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95799-2C33-44C1-A43A-94C68681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337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查看来源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用户自行记录</a:t>
            </a:r>
          </a:p>
        </p:txBody>
      </p:sp>
      <p:cxnSp>
        <p:nvCxnSpPr>
          <p:cNvPr id="63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005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2455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784860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772650" y="31337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68E820-95F2-46E2-BCFF-0F28D175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948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权威内容始终保存在 Obsidian。系统返回建议和来源，用户决定是否采纳。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E9E4F7-81AA-4BE9-9E54-66DBA8FF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D05DC5-96A8-45F6-98A4-FF533EA9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8630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6986D-F4BD-4E2E-AD91-B40A28CB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知识问答与总结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2863F-A117-4344-8A29-16AD92BA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FC015-409D-430E-9634-D6A2C921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9CE57-97BD-42A9-B124-297157A1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41910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26EF25-5D9F-46A8-B12D-E46F7578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rPr>
              <a:t>示例问题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D6727-ECB4-4826-B2AA-BFFD613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我之前为什么选择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 Embedding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4894A-3DFA-44A8-A7A0-FD8E07C4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系统先检索笔记，再组织回答。没有来源时返回 no_evidence。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B57F9-D603-452F-A116-ACFC5C2D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4668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12606-864B-4B0F-BF1F-4BD81970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F27645-613F-4D4B-97E2-C4EBDA73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默认通过 Ollama 使用 bge-m3，在中文检索能力、部署成本和隐私之间取得平衡。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C1EFC-7803-4427-B45E-AFAC4F71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770E2-0F6D-4052-98E1-052412FE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4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5B78"/>
                </a:solidFill>
                <a:latin typeface="Microsoft YaHei"/>
                <a:ea typeface="Microsoft YaHei"/>
                <a:cs typeface="Microsoft YaHei"/>
              </a:rPr>
              <a:t>技术/Embedding选择.md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245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5B78"/>
                </a:solidFill>
                <a:latin typeface="Microsoft YaHei"/>
                <a:ea typeface="Microsoft YaHei"/>
                <a:cs typeface="Microsoft YaHei"/>
              </a:rPr>
              <a:t>技术/RAG检索流程.md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E0082B-E9B3-43B1-9129-5DAFE91D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48250"/>
            <a:ext cx="5657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082B1-EBD3-441A-BBD0-566AAC71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38750"/>
            <a:ext cx="581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总结任务可以按主题和时间范围归纳多篇笔记，并保留每项结论的来源。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30D575-5210-4111-8D0D-C60C3547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53A090-5690-4D8E-8471-CD96B17D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26821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1C81E-444D-48B3-B059-28A8E725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困难模式分析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159D5-CE36-4453-A49A-ECAAD74E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D8039-8E6F-48DF-B058-0FEDA979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8C9764-7EB7-4183-BD97-59AE4391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90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脱敏演示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7B700-E7AF-4901-9774-1C4DA07A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647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B6C0A6-0F78-4CBD-A119-DB6BB442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CFF22-ECE1-4B5E-B719-A18A1DC6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5430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5A7E4-10F2-4F4A-8801-3640730D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552700"/>
            <a:ext cx="138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记录召回结果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缺少固定评测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97C0B-87AD-44BE-8B60-1A605C39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96262-B919-449C-9C63-30D4D818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5430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第3周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F6294-C520-4597-9475-5276B284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38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复盘再次提到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难以比较检索效果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E7E1B-76AD-4802-91B2-9C61C09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658DC-562E-44D5-B165-2DA9CBD2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430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7F425-6AA7-4C78-930A-55267DF5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552700"/>
            <a:ext cx="1381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下一步要求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记录真实召回结果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0B828-54E4-49FC-9805-CDCE11DA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19250"/>
            <a:ext cx="3333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428F1-05C1-409A-81F0-45B4FF4D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859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候选困难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6A24A-9B20-4AEF-BFAC-3EE8F09F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缺少稳定的检索评测基准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6BC2CD-122F-46D5-B1D8-95FA27C4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571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出现范围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多条学习与复盘记录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处理方式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保留来源和时间，等待用户确认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38366E-4562-4ADB-A81F-E7DF16B7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单次情绪或孤立事件不会自动被判定为长期短板。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122B5-56EB-4162-929D-9C5036CC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6F65A-777D-4DF4-BCDC-C5214641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34530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6465A-A093-4DA7-86FF-1FC6F034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成长方向推荐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CDE4C-EC14-4265-99A2-5C5217B4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8AF58-0AC7-4B91-B86D-E3CD0D85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C9412-DA17-4D6B-BDE0-EC712E7F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DC2D3-D2A9-4C07-BA94-04648617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形成可验证的 AI 解决方案能力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0E2FC-A5AA-483C-9EC8-CFC6C0AF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E52B7-95B2-42A3-9F92-37804A04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63E71-0FE9-4F51-809B-5966CB13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RAG 系统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架构与交付材料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A18CA-6D12-4F02-BBF1-6DE81B38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F0AD2-F079-4213-95BF-F1846C96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009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差距假设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D27B8-FC68-4559-892F-ED9D8597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缺少面向客户的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方案演示证据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9E38C-C7DD-4609-8448-D0CB8BAF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14288">
            <a:solidFill>
              <a:srgbClr val="178D8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D6D3C9-4B95-4600-B3A3-BE7496A6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1A25E-CEF6-483C-8E0D-4AFFBE1D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制作十分钟演示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并进行角色提问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8C077-9BF3-4467-9139-BB1203E4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2381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4288">
            <a:solidFill>
              <a:srgbClr val="CBD6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BF7D6-0CA8-4AA9-AC38-D128FFDB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复查方式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F68D5B-3355-4826-8502-903D9BB0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在下次周复盘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记录反馈与调整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86100" y="3638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86450" y="3638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686800" y="3638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6DD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1F960A-743D-4B8F-A817-6B15BC1D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限制：知识库没有真实客户反馈。这条建议只能验证演示准备能力，不能证明商业转化结果。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AF996-11AF-4BE6-8318-F362686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051D1B-39E6-4E47-8303-E7937CE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24964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B722CD-6A0C-4190-BF44-EF9294C3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6C5C57-8542-4F26-AAF6-391F5FCF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7694C-935A-4097-8F51-075795BC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AEB52-C7CA-408A-BC83-E096E9DE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85900"/>
            <a:ext cx="10553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0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5DB8C-5EEA-4DC0-A39A-FA8BE5A0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581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E3D5D-2A27-4F42-BC53-88275A44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81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本地页面    结构化来源    Obsidian URI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5E3BA-6F73-472E-AF8A-10C1C95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811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已有并扩展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6E21D-A147-4A44-8594-DD913718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10553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45FA2-C2AF-412C-9B5B-4EC37C3C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955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推荐层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E4176-D10A-4FB3-B227-9FEDAA05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955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Growth Recommender    建议依据    不确定性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88F52-EE59-480C-82F1-5B3F46B2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955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衍生设计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1F6EC-6D7F-4A88-B30F-9E587BB4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553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6449B-014F-47E2-9604-EE9164F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分析层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9C7583-BBEE-42B8-AD1D-0EB98C67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0990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主题总结    困难模式    目标差距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BDD20-2597-4565-9C4F-E347C31F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099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衍生设计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A61BC-02BC-4F5B-A10C-33CA9EA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0553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CE792-FD22-4362-AA49-0F3FB83D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242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B4098E-1B19-45F5-A104-7F5E9C89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242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FastAPI    LangChain 只读 Agent    Query Planner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E2C65-FDFD-4424-94C1-178B48BA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242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已有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0C7D4-8747-4951-8C53-2DB9743F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0553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49E80-FD82-4B15-A704-DEA11F53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38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检索层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9DA7A7-E42E-4D0D-9620-5641949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386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Embedding    JSON Snapshot    In-memory Retriever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67858-7A3F-49F2-9D4D-C58AE976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386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已有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3B235-7C59-4863-A613-6734289F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57775"/>
            <a:ext cx="10553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44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EF3772-D2D3-4777-9F23-7FBBC36C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530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79379C-4761-44A6-AA6E-802C22FE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5302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Obsidian Markdown    Frontmatter    标签    双向链接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D1583-A997-4273-BDD2-B88A8DDB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1530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425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rPr>
              <a:t>已有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84EA3-1297-4B20-A64B-1D311897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08333-BF3A-4C0F-86A9-C7EA8A1C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32684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E2F3E-67FE-4448-AA0B-03013967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推荐规则与安全边界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B024F-541C-4379-9821-0A43ED58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D30DC-D783-4A49-81A5-179D0BA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BC076-0B8B-4457-89E3-726B7F96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推荐规则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C412-C889-455E-A2AB-68E6A1C9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4857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38100" bIns="1905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事实结论必须绑定真实笔记片段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近期复盘权重高于已经失效的计划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长期困难需要多条记录共同支持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建议必须对应用户主动记录的目标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记录冲突时并列来源并请求确认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1AA83-C4BD-463E-BE04-2B489F20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8575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C4F95-C247-4D24-B468-79AFA5F2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安全边界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6BA71-D7EA-41B7-9C13-FFB77541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762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38100" bIns="1905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Agent 只开放检索、读取和关联发现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所有路径受 Vault 根目录限制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无证据时返回 no_evidence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日志不记录问题、笔记或回答正文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规划结果仅作参考，风险问题停止确定性建议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A9AB9-D174-41FA-A93E-4F657CC4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F049E-260D-45C8-BDD4-732FAE6E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958070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9A3EC-C306-46D2-B348-0BFD3A48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部署方式与数据边界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0E3634-374D-460E-8B23-6339333A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435821-FACF-4949-AE22-3FC93F5B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31783-B4E5-4D2D-A34C-5C038379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权威数据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B6A7E-6C1C-4587-90DF-FAFB58A9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Obsidian Markdown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09A8B-C82B-4492-AEA6-C6EA0AF2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原笔记保持在用户控制的 Vault 中。向量索引、成长画像和建议都是可重新计算的派生结果。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961FA-5222-433D-9C19-D8A5810B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668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6E84-7D91-439F-AB0C-FFD34044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全本地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B44F4-F7C4-4494-924C-ADD23E6F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Vault、Embedding 与聊天模型均在本机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174F5-0DC9-4B27-A491-EB187CA1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EB8FD-91DC-4DA3-BD5B-CD640B80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337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本地检索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CA8C8-17C8-4784-87C2-55223F4A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52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Vault 与索引本地，仅发送完成任务所需片段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9FB1B-71F0-429B-AB84-2B1AF170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81450"/>
            <a:ext cx="5219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6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3D161-346A-41A4-BC27-0C58B782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个人专属环境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E00679-AB35-433B-8EFC-23DAA33A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01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需要补充身份认证、传输加密和备份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78B45E-59A3-48C9-B762-66F22A8C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真实 Vault、模型密钥和生成索引不进入公开仓库。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51136-AE10-4E91-9908-D4D2471B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B66CB2-CDC2-4A4F-AD6E-277B1657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70411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A365C6-F041-47DB-B276-36A4DA42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实施路线与验收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A7399-39B4-480F-BB47-FE06994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73E09-2551-472F-AE97-9968B1C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7D3FF-EDC6-4626-9FC8-AE9953FE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EA90C-D24C-49EC-9B72-2B40798C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E5B4C-EDAE-42D7-8F10-0C51CCC3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内容约定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6962A-3898-48C0-B7B6-E3E67DE8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目标、困难和复盘模板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36BB2-47FE-4128-8883-E823A601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562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2E76D-437C-4724-A5A4-FEC266B0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812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7064B-9501-40B1-B22B-8FC9C0C0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3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总结分析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2BB2BA-F668-4C14-B761-F3E3BC0F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主题总结与困难聚合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E23DD-AF0A-4504-A2C5-5C5A255C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62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196BB-8C45-49A7-B449-7B7083B9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A130D-2F41-423D-A0DF-41EE137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3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成长推荐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F1AAA3-27B1-4582-836A-6315D47B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目标差距与建议结构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96664-30A7-4FE1-8A1C-D0A1B31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62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8D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BD468-0634-4445-9F70-5E1880BA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8120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54DC49-78E9-4374-9251-8E3DD65C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评测演示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C2080C-BB2F-4C0A-ABDD-D4FC98D5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脱敏测试集与评价报告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DCBFF-CA4E-4B02-980E-0E5B7CC2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C44"/>
                </a:solidFill>
                <a:latin typeface="Microsoft YaHei"/>
                <a:ea typeface="Microsoft YaHei"/>
                <a:cs typeface="Microsoft YaHei"/>
              </a:rPr>
              <a:t>验收重点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63093-91AB-43A0-9240-74D0FDC6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38100" bIns="1905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0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知识结论带来源，缺少来源时返回 no_evidence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0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重复困难展示出现时间和对应原笔记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0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建议包含目标、证据、理由、不确定性和复查日期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000"/>
              </a:spcAft>
              <a:buNone/>
              <a:def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303C"/>
                </a:solidFill>
                <a:latin typeface="Microsoft YaHei"/>
                <a:ea typeface="Microsoft YaHei"/>
                <a:cs typeface="Microsoft YaHei"/>
              </a:rPr>
              <a:t>Agent 工具保持只读，越界路径与非法参数被拒绝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C81C1B-5C7E-4D15-A13F-CD26EB3F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CF777-9F7A-4CA0-A947-B7AA58F1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3717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45884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C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10FE58-FE94-47F9-98AC-C69F578C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证据边界与下一步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01710-8BFE-4B3E-B832-87336F9A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53F86-0F79-4DF0-9F15-E28C808B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350" b="0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1DE3A-CFFA-4E11-9807-F8E5E6A5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rPr>
              <a:t>已有工程证据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4E6A1-EFFE-42BF-B3B6-0C96CCA1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38100" bIns="1905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Markdown 解析、增量索引和 Retriever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只读 Agent、结构化来源和 Obsidian 定位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路径边界、日志脱敏和无证据拒答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查询规划 LoRA 的训练与权重校验留档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0619E-42AA-4BB1-9EE8-69DFC59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66850"/>
            <a:ext cx="285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D8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87E97-3E87-425D-8EB5-3911053D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668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FF2EF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99253-793E-40FC-9700-4FDF0D5D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19050" tIns="19050" rIns="38100" bIns="1905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用脱敏笔记验证主题总结和困难聚合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人工评价建议是否具体、可执行且有来源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固定测试集后再设定准确率和召回目标</a:t>
            </a:r>
          </a:p>
          <a:p xmlns:a="http://schemas.openxmlformats.org/drawingml/2006/main">
            <a:pPr marL="254000" indent="-127000">
              <a:lnSpc>
                <a:spcPct val="105000"/>
              </a:lnSpc>
              <a:spcAft>
                <a:spcPts val="1300"/>
              </a:spcAft>
              <a:buNone/>
              <a:def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验证通过后再考虑建议历史与成长轨迹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4DF95-2EA7-4BC2-ABC2-73F2815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34000"/>
            <a:ext cx="1013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平台以个人记录为证据，帮助用户回顾知识、识别困难并形成下一阶段行动建议。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94BFF-8CA6-4F4A-BC82-B89646CB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个人知识库问答和成长方向推荐平台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8754E-0D85-4A79-A6C2-0634068E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38100" tIns="38100" rIns="3810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9F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68793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2026-09-14T12:19:52.5490000Z</dcterms:created>
  <dcterms:modified xsi:type="dcterms:W3CDTF">2026-09-14T12:19:52.5490000Z</dcterms:modified>
</coreProperties>
</file>